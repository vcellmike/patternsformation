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e58c7a432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e58c7a432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e58c7a432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e58c7a432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e58c7a432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e58c7a432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f6697b8ea_3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f6697b8ea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png"/><Relationship Id="rId10" Type="http://schemas.openxmlformats.org/officeDocument/2006/relationships/image" Target="../media/image1.png"/><Relationship Id="rId13" Type="http://schemas.openxmlformats.org/officeDocument/2006/relationships/image" Target="../media/image10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hyperlink" Target="https://colab.research.google.com/drive/1xKfpYqqCJ84F495X90rdmPJ52CxZbzr-#scrollTo=LmFu4j78EJY5" TargetMode="External"/><Relationship Id="rId9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5.jpg"/><Relationship Id="rId7" Type="http://schemas.openxmlformats.org/officeDocument/2006/relationships/image" Target="../media/image6.png"/><Relationship Id="rId8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17.png"/><Relationship Id="rId13" Type="http://schemas.openxmlformats.org/officeDocument/2006/relationships/image" Target="../media/image16.png"/><Relationship Id="rId1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hyperlink" Target="https://colab.research.google.com/drive/1xKfpYqqCJ84F495X90rdmPJ52CxZbzr-#scrollTo=LmFu4j78EJY5" TargetMode="External"/><Relationship Id="rId9" Type="http://schemas.openxmlformats.org/officeDocument/2006/relationships/image" Target="../media/image12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Relationship Id="rId7" Type="http://schemas.openxmlformats.org/officeDocument/2006/relationships/image" Target="../media/image11.png"/><Relationship Id="rId8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8.png"/><Relationship Id="rId10" Type="http://schemas.openxmlformats.org/officeDocument/2006/relationships/image" Target="../media/image24.png"/><Relationship Id="rId13" Type="http://schemas.openxmlformats.org/officeDocument/2006/relationships/image" Target="../media/image25.png"/><Relationship Id="rId1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hyperlink" Target="https://colab.research.google.com/drive/1xKfpYqqCJ84F495X90rdmPJ52CxZbzr-#scrollTo=LmFu4j78EJY5" TargetMode="External"/><Relationship Id="rId9" Type="http://schemas.openxmlformats.org/officeDocument/2006/relationships/image" Target="../media/image23.png"/><Relationship Id="rId5" Type="http://schemas.openxmlformats.org/officeDocument/2006/relationships/image" Target="../media/image26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15.png"/><Relationship Id="rId8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7839000" y="4668400"/>
            <a:ext cx="1305000" cy="3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81147"/>
              <a:buNone/>
            </a:pPr>
            <a:r>
              <a:rPr lang="en" sz="1220"/>
              <a:t>Using </a:t>
            </a:r>
            <a:r>
              <a:rPr lang="en" sz="1220" u="sng">
                <a:solidFill>
                  <a:schemeClr val="hlink"/>
                </a:solidFill>
                <a:hlinkClick r:id="rId4"/>
              </a:rPr>
              <a:t>XGBoost</a:t>
            </a:r>
            <a:r>
              <a:rPr lang="en" sz="1220"/>
              <a:t>:</a:t>
            </a:r>
            <a:endParaRPr sz="1220"/>
          </a:p>
        </p:txBody>
      </p:sp>
      <p:sp>
        <p:nvSpPr>
          <p:cNvPr id="55" name="Google Shape;55;p13"/>
          <p:cNvSpPr txBox="1"/>
          <p:nvPr/>
        </p:nvSpPr>
        <p:spPr>
          <a:xfrm>
            <a:off x="145457" y="775406"/>
            <a:ext cx="6885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87350" lIns="87350" spcFirstLastPara="1" rIns="87350" wrap="square" tIns="87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6">
                <a:solidFill>
                  <a:schemeClr val="dk1"/>
                </a:solidFill>
              </a:rPr>
              <a:t>RTO_RNAi_1</a:t>
            </a:r>
            <a:endParaRPr sz="1146">
              <a:solidFill>
                <a:schemeClr val="dk1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14375" y="2684970"/>
            <a:ext cx="7818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87350" lIns="87350" spcFirstLastPara="1" rIns="87350" wrap="square" tIns="87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46">
                <a:solidFill>
                  <a:schemeClr val="dk1"/>
                </a:solidFill>
              </a:rPr>
              <a:t>RTO_RNAi_2a</a:t>
            </a:r>
            <a:endParaRPr sz="114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6">
              <a:solidFill>
                <a:schemeClr val="dk1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45450" y="4314151"/>
            <a:ext cx="7818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7350" lIns="87350" spcFirstLastPara="1" rIns="87350" wrap="square" tIns="87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46">
                <a:solidFill>
                  <a:schemeClr val="dk1"/>
                </a:solidFill>
              </a:rPr>
              <a:t>RTO_RNAi_2b</a:t>
            </a:r>
            <a:endParaRPr sz="114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6">
              <a:solidFill>
                <a:schemeClr val="dk1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986800" y="130100"/>
            <a:ext cx="15951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Unprocessed Image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119888" y="130100"/>
            <a:ext cx="21447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Processed Binary Image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5489875" y="31175"/>
            <a:ext cx="34845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VCell Simulation based on XGBoost Predicted Params (Threshold at VCell value 3)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61" name="Google Shape;61;p13" title="RTO_RNAi_1_fina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54525" y="574584"/>
            <a:ext cx="1305000" cy="13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 title="RTO_RNAi_2a_final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54525" y="2106900"/>
            <a:ext cx="1339150" cy="133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 title="RTO_RNAi_2b_final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54525" y="3745325"/>
            <a:ext cx="1305000" cy="13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3" title="RTO_RNAi_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5400000">
            <a:off x="1041633" y="914276"/>
            <a:ext cx="1485434" cy="723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 title="RTO_RNAi_2a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5400000">
            <a:off x="1114774" y="2398466"/>
            <a:ext cx="1339152" cy="825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 title="RTO_RNAi_2b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5400000">
            <a:off x="1080445" y="3972341"/>
            <a:ext cx="1407811" cy="86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3" title="RTO_RNAi_1.png (green)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539959" y="526690"/>
            <a:ext cx="1395568" cy="1395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3" title="RTO_RNAi_2a.png (green)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497377" y="2070788"/>
            <a:ext cx="1480708" cy="1480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3" title="RTO_RNAi_2b.png (green)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539962" y="3700042"/>
            <a:ext cx="1395568" cy="1395568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/>
          <p:nvPr/>
        </p:nvSpPr>
        <p:spPr>
          <a:xfrm>
            <a:off x="1599725" y="967175"/>
            <a:ext cx="241500" cy="690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3"/>
          <p:cNvSpPr/>
          <p:nvPr/>
        </p:nvSpPr>
        <p:spPr>
          <a:xfrm>
            <a:off x="1663600" y="2610050"/>
            <a:ext cx="241500" cy="561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3"/>
          <p:cNvSpPr/>
          <p:nvPr/>
        </p:nvSpPr>
        <p:spPr>
          <a:xfrm>
            <a:off x="1578275" y="4149350"/>
            <a:ext cx="241500" cy="561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/>
          <p:nvPr>
            <p:ph type="title"/>
          </p:nvPr>
        </p:nvSpPr>
        <p:spPr>
          <a:xfrm>
            <a:off x="7839000" y="4668400"/>
            <a:ext cx="1305000" cy="3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81147"/>
              <a:buNone/>
            </a:pPr>
            <a:r>
              <a:rPr lang="en" sz="1220"/>
              <a:t>Using </a:t>
            </a:r>
            <a:r>
              <a:rPr lang="en" sz="1220" u="sng">
                <a:solidFill>
                  <a:schemeClr val="hlink"/>
                </a:solidFill>
                <a:hlinkClick r:id="rId4"/>
              </a:rPr>
              <a:t>XGBoost</a:t>
            </a:r>
            <a:r>
              <a:rPr lang="en" sz="1220"/>
              <a:t>:</a:t>
            </a:r>
            <a:endParaRPr sz="1220"/>
          </a:p>
        </p:txBody>
      </p:sp>
      <p:sp>
        <p:nvSpPr>
          <p:cNvPr id="78" name="Google Shape;78;p14"/>
          <p:cNvSpPr txBox="1"/>
          <p:nvPr/>
        </p:nvSpPr>
        <p:spPr>
          <a:xfrm>
            <a:off x="145457" y="775406"/>
            <a:ext cx="6885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87350" lIns="87350" spcFirstLastPara="1" rIns="87350" wrap="square" tIns="87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6">
                <a:solidFill>
                  <a:schemeClr val="dk1"/>
                </a:solidFill>
              </a:rPr>
              <a:t>RTO_RNAi_2c</a:t>
            </a:r>
            <a:endParaRPr sz="1146">
              <a:solidFill>
                <a:schemeClr val="dk1"/>
              </a:solidFill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114375" y="2684970"/>
            <a:ext cx="7818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87350" lIns="87350" spcFirstLastPara="1" rIns="87350" wrap="square" tIns="87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6">
                <a:solidFill>
                  <a:schemeClr val="dk1"/>
                </a:solidFill>
              </a:rPr>
              <a:t>RTO_RNAi_3</a:t>
            </a:r>
            <a:endParaRPr sz="114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6">
              <a:solidFill>
                <a:schemeClr val="dk1"/>
              </a:solidFill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145450" y="4314151"/>
            <a:ext cx="7818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7350" lIns="87350" spcFirstLastPara="1" rIns="87350" wrap="square" tIns="87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6">
                <a:solidFill>
                  <a:schemeClr val="dk1"/>
                </a:solidFill>
              </a:rPr>
              <a:t>RTO_RNAi_4a</a:t>
            </a:r>
            <a:endParaRPr sz="114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6">
              <a:solidFill>
                <a:schemeClr val="dk1"/>
              </a:solidFill>
            </a:endParaRPr>
          </a:p>
        </p:txBody>
      </p:sp>
      <p:sp>
        <p:nvSpPr>
          <p:cNvPr id="81" name="Google Shape;81;p14"/>
          <p:cNvSpPr txBox="1"/>
          <p:nvPr/>
        </p:nvSpPr>
        <p:spPr>
          <a:xfrm>
            <a:off x="986800" y="130100"/>
            <a:ext cx="15951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Unprocessed Image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3119888" y="130100"/>
            <a:ext cx="21447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Processed Binary Image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83" name="Google Shape;83;p14"/>
          <p:cNvSpPr txBox="1"/>
          <p:nvPr/>
        </p:nvSpPr>
        <p:spPr>
          <a:xfrm>
            <a:off x="5489875" y="31175"/>
            <a:ext cx="34845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VCell Simulation based on XGBoost Predicted Params (Threshold at VCell value 3)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84" name="Google Shape;84;p14" title="RTO_RNAi_2c.png (green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34487" y="587150"/>
            <a:ext cx="1366863" cy="1366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4" title="RTO_RNAi_3.png (green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55662" y="2131162"/>
            <a:ext cx="1409250" cy="140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4" title="RTO_RNAi_4a.png (green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76838" y="3717550"/>
            <a:ext cx="1366875" cy="136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4" title="RTO_RNAi_2c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5400000">
            <a:off x="1288085" y="867302"/>
            <a:ext cx="1217100" cy="65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4" title="RTO_RNAi_3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5400000">
            <a:off x="1231594" y="2292206"/>
            <a:ext cx="1330075" cy="76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4" title="RTO_RNAi_4a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5400000">
            <a:off x="1113800" y="3889600"/>
            <a:ext cx="1565675" cy="71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4" title="RTO_RNAi_2c_final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310226" y="587150"/>
            <a:ext cx="1420575" cy="142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4" title="RTO_RNAi_3_final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310225" y="2101162"/>
            <a:ext cx="1420575" cy="142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title="RTO_RNAi_4a_final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295757" y="3615148"/>
            <a:ext cx="1469250" cy="14692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1709750" y="990688"/>
            <a:ext cx="241500" cy="518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4"/>
          <p:cNvSpPr/>
          <p:nvPr/>
        </p:nvSpPr>
        <p:spPr>
          <a:xfrm>
            <a:off x="1775900" y="2392277"/>
            <a:ext cx="241500" cy="659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1758300" y="3997525"/>
            <a:ext cx="241500" cy="6135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839000" y="4668400"/>
            <a:ext cx="1305000" cy="3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ct val="81147"/>
              <a:buNone/>
            </a:pPr>
            <a:r>
              <a:rPr lang="en" sz="1220"/>
              <a:t>Using </a:t>
            </a:r>
            <a:r>
              <a:rPr lang="en" sz="1220" u="sng">
                <a:solidFill>
                  <a:schemeClr val="hlink"/>
                </a:solidFill>
                <a:hlinkClick r:id="rId4"/>
              </a:rPr>
              <a:t>XGBoost</a:t>
            </a:r>
            <a:r>
              <a:rPr lang="en" sz="1220"/>
              <a:t>:</a:t>
            </a:r>
            <a:endParaRPr sz="1220"/>
          </a:p>
        </p:txBody>
      </p:sp>
      <p:sp>
        <p:nvSpPr>
          <p:cNvPr id="101" name="Google Shape;101;p15"/>
          <p:cNvSpPr txBox="1"/>
          <p:nvPr/>
        </p:nvSpPr>
        <p:spPr>
          <a:xfrm>
            <a:off x="145457" y="775406"/>
            <a:ext cx="6885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87350" lIns="87350" spcFirstLastPara="1" rIns="87350" wrap="square" tIns="87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6">
                <a:solidFill>
                  <a:schemeClr val="dk1"/>
                </a:solidFill>
              </a:rPr>
              <a:t>RTO_RNAi_4b</a:t>
            </a:r>
            <a:endParaRPr sz="1146">
              <a:solidFill>
                <a:schemeClr val="dk1"/>
              </a:solidFill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114375" y="2684970"/>
            <a:ext cx="7818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87350" lIns="87350" spcFirstLastPara="1" rIns="87350" wrap="square" tIns="87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6">
                <a:solidFill>
                  <a:schemeClr val="dk1"/>
                </a:solidFill>
              </a:rPr>
              <a:t>RTO_RNAi_4c</a:t>
            </a:r>
            <a:endParaRPr sz="1146">
              <a:solidFill>
                <a:schemeClr val="dk1"/>
              </a:solidFill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145450" y="4314151"/>
            <a:ext cx="7818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87350" lIns="87350" spcFirstLastPara="1" rIns="87350" wrap="square" tIns="87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6">
                <a:solidFill>
                  <a:schemeClr val="dk1"/>
                </a:solidFill>
              </a:rPr>
              <a:t>RTO_RNAi_6</a:t>
            </a:r>
            <a:endParaRPr sz="1146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6">
              <a:solidFill>
                <a:schemeClr val="dk1"/>
              </a:solidFill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986800" y="130100"/>
            <a:ext cx="15951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Unprocessed Image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3119888" y="130100"/>
            <a:ext cx="21447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Processed Binary Image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5489875" y="31175"/>
            <a:ext cx="3484500" cy="3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VCell Simulation based on XGBoost Predicted Params (Threshold at VCell value 3)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07" name="Google Shape;107;p15" title="RTO_RNAi_4b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1279774" y="763050"/>
            <a:ext cx="1220675" cy="758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title="RTO_RNAi_4c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5400000">
            <a:off x="1074725" y="2375827"/>
            <a:ext cx="1630774" cy="723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title="RTO_RNAi_6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5400000">
            <a:off x="1211390" y="3871139"/>
            <a:ext cx="1357449" cy="861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title="RTO_RNAi_4b.png (green)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39751" y="489938"/>
            <a:ext cx="1305000" cy="13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title="RTO_RNAi_4c.png (green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39750" y="2056575"/>
            <a:ext cx="1305000" cy="13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title="RTO_RNAi_6.png (green)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539750" y="3623200"/>
            <a:ext cx="1357450" cy="13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title="RTO_RNAi_4b_final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235050" y="532100"/>
            <a:ext cx="1305000" cy="13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title="RTO_RNAi_4c_final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189450" y="2045175"/>
            <a:ext cx="1357450" cy="135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title="RTO_RNAi_6_final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189450" y="3552775"/>
            <a:ext cx="1427875" cy="1427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/>
          <p:nvPr/>
        </p:nvSpPr>
        <p:spPr>
          <a:xfrm>
            <a:off x="1700300" y="932151"/>
            <a:ext cx="241500" cy="504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1734125" y="2519250"/>
            <a:ext cx="241500" cy="609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1777250" y="3985675"/>
            <a:ext cx="183000" cy="609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/>
          <p:nvPr/>
        </p:nvSpPr>
        <p:spPr>
          <a:xfrm>
            <a:off x="145457" y="775406"/>
            <a:ext cx="6885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87350" lIns="87350" spcFirstLastPara="1" rIns="87350" wrap="square" tIns="87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6">
                <a:solidFill>
                  <a:schemeClr val="dk1"/>
                </a:solidFill>
              </a:rPr>
              <a:t>RTO_RNAi_1</a:t>
            </a:r>
            <a:endParaRPr sz="1146">
              <a:solidFill>
                <a:schemeClr val="dk1"/>
              </a:solidFill>
            </a:endParaRPr>
          </a:p>
        </p:txBody>
      </p:sp>
      <p:pic>
        <p:nvPicPr>
          <p:cNvPr id="124" name="Google Shape;124;p16" title="RTO_RNAi_1_fin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4525" y="574584"/>
            <a:ext cx="1305000" cy="130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title="RTO_RNAi_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400000">
            <a:off x="1041633" y="914276"/>
            <a:ext cx="1485434" cy="723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title="RTO_RNAi_1.png (green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39959" y="526690"/>
            <a:ext cx="1395568" cy="139556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/>
          <p:nvPr/>
        </p:nvSpPr>
        <p:spPr>
          <a:xfrm>
            <a:off x="1599725" y="1033900"/>
            <a:ext cx="241500" cy="624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8" name="Google Shape;128;p16" title="RTO_RNAi_1.png"/>
          <p:cNvPicPr preferRelativeResize="0"/>
          <p:nvPr/>
        </p:nvPicPr>
        <p:blipFill rotWithShape="1">
          <a:blip r:embed="rId5">
            <a:alphaModFix/>
          </a:blip>
          <a:srcRect b="21649" l="35413" r="24943" t="40088"/>
          <a:stretch/>
        </p:blipFill>
        <p:spPr>
          <a:xfrm rot="5400000">
            <a:off x="2389350" y="822239"/>
            <a:ext cx="907150" cy="907149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145457" y="2422760"/>
            <a:ext cx="688500" cy="7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87350" lIns="87350" spcFirstLastPara="1" rIns="87350" wrap="square" tIns="87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6">
                <a:solidFill>
                  <a:schemeClr val="dk1"/>
                </a:solidFill>
              </a:rPr>
              <a:t>RTO_RNAi_2c</a:t>
            </a:r>
            <a:endParaRPr sz="1146">
              <a:solidFill>
                <a:schemeClr val="dk1"/>
              </a:solidFill>
            </a:endParaRPr>
          </a:p>
        </p:txBody>
      </p:sp>
      <p:pic>
        <p:nvPicPr>
          <p:cNvPr id="130" name="Google Shape;130;p16" title="RTO_RNAi_2c.png (green)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34487" y="2234503"/>
            <a:ext cx="1366863" cy="13668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title="RTO_RNAi_2c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5400000">
            <a:off x="1288085" y="2514656"/>
            <a:ext cx="1217100" cy="65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title="RTO_RNAi_2c_final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10226" y="2234503"/>
            <a:ext cx="1420575" cy="14205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/>
          <p:nvPr/>
        </p:nvSpPr>
        <p:spPr>
          <a:xfrm>
            <a:off x="1709750" y="2638041"/>
            <a:ext cx="241500" cy="518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16" title="RTO_RNAi_2c.png"/>
          <p:cNvPicPr preferRelativeResize="0"/>
          <p:nvPr/>
        </p:nvPicPr>
        <p:blipFill rotWithShape="1">
          <a:blip r:embed="rId8">
            <a:alphaModFix/>
          </a:blip>
          <a:srcRect b="22159" l="33123" r="26608" t="44805"/>
          <a:stretch/>
        </p:blipFill>
        <p:spPr>
          <a:xfrm rot="5400000">
            <a:off x="2494638" y="2450988"/>
            <a:ext cx="835050" cy="83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